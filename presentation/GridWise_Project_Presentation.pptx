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09560" y="685800"/>
            <a:ext cx="3566160" cy="53035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17320"/>
            <a:ext cx="2103120" cy="2213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4300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0F3F8"/>
                </a:solidFill>
                <a:latin typeface="Aptos"/>
              </a:rPr>
              <a:t>GRIDWISE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400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3F8"/>
                </a:solidFill>
                <a:latin typeface="Aptos"/>
              </a:rPr>
              <a:t>Predictive Grid Reliability
&amp; Equipment Risk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54680"/>
            <a:ext cx="6080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1A9B8"/>
                </a:solidFill>
                <a:latin typeface="Aptos"/>
              </a:rPr>
              <a:t>A simple, explainable platform for monitoring equipment, estimating outage risk, and turning risk signals into preventive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343400"/>
            <a:ext cx="1965960" cy="310896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70832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89204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1A9B8"/>
                </a:solidFill>
                <a:latin typeface="Aptos"/>
              </a:rPr>
              <a:t>Frontend: React + TypeScript + Vite     •     Backend: FastAPI +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23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1A9B8"/>
                </a:solidFill>
                <a:latin typeface="Aptos"/>
              </a:rPr>
              <a:t>Prototype • 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Why grid operators need risk intelligence before failure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4805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508760"/>
            <a:ext cx="1417320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5720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3F8"/>
                </a:solidFill>
                <a:latin typeface="Aptos"/>
              </a:defRPr>
            </a:pPr>
            <a:r>
              <a:t>• Power-grid equipment can fail because of overload, heat, age, maintenance gaps, previous failures, voltage deviation, or vibration.</a:t>
            </a:r>
          </a:p>
          <a:p>
            <a:pPr>
              <a:spcAft>
                <a:spcPts val="1200"/>
              </a:spcAft>
              <a:defRPr sz="1400">
                <a:solidFill>
                  <a:srgbClr val="F0F3F8"/>
                </a:solidFill>
                <a:latin typeface="Aptos"/>
              </a:defRPr>
            </a:pPr>
            <a:r>
              <a:t>• A single equipment failure can affect customers and can contribute to a larger zone outage.</a:t>
            </a:r>
          </a:p>
          <a:p>
            <a:pPr>
              <a:spcAft>
                <a:spcPts val="1200"/>
              </a:spcAft>
              <a:defRPr sz="1400">
                <a:solidFill>
                  <a:srgbClr val="F0F3F8"/>
                </a:solidFill>
                <a:latin typeface="Aptos"/>
              </a:defRPr>
            </a:pPr>
            <a:r>
              <a:t>• Operators need a prioritized view: what is risky, why it is risky, and what should be done next.</a:t>
            </a:r>
          </a:p>
          <a:p>
            <a:pPr>
              <a:spcAft>
                <a:spcPts val="1200"/>
              </a:spcAft>
              <a:defRPr sz="1400">
                <a:solidFill>
                  <a:srgbClr val="F0F3F8"/>
                </a:solidFill>
                <a:latin typeface="Aptos"/>
              </a:defRPr>
            </a:pPr>
            <a:r>
              <a:t>• Raw sensor/data tables alone do not provide an actionable decision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3F8"/>
                </a:solidFill>
                <a:latin typeface="Aptos"/>
              </a:rPr>
              <a:t>Reactive 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057400" cy="11430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65392" y="1993392"/>
            <a:ext cx="393192" cy="393192"/>
          </a:xfrm>
          <a:prstGeom prst="ellipse">
            <a:avLst/>
          </a:prstGeom>
          <a:solidFill>
            <a:srgbClr val="41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93392"/>
            <a:ext cx="3931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9751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276856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Readings arrive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828800"/>
            <a:ext cx="2057400" cy="11430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42832" y="1993392"/>
            <a:ext cx="393192" cy="393192"/>
          </a:xfrm>
          <a:prstGeom prst="ellips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1993392"/>
            <a:ext cx="3931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9751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276856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Problem occurs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337560"/>
            <a:ext cx="2057400" cy="11430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65392" y="3502152"/>
            <a:ext cx="393192" cy="393192"/>
          </a:xfrm>
          <a:prstGeom prst="ellipse">
            <a:avLst/>
          </a:prstGeom>
          <a:solidFill>
            <a:srgbClr val="F0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502152"/>
            <a:ext cx="3931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4838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785615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Find cause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3337560"/>
            <a:ext cx="2057400" cy="11430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42832" y="3502152"/>
            <a:ext cx="393192" cy="393192"/>
          </a:xfrm>
          <a:prstGeom prst="ellipse">
            <a:avLst/>
          </a:prstGeom>
          <a:solidFill>
            <a:srgbClr val="4BC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3502152"/>
            <a:ext cx="3931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34838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Repair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3785615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Restore service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58200" y="2404872"/>
            <a:ext cx="301752" cy="0"/>
          </a:xfrm>
          <a:prstGeom prst="line">
            <a:avLst/>
          </a:prstGeom>
          <a:ln w="27940">
            <a:solidFill>
              <a:srgbClr val="EB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686800" y="2331720"/>
            <a:ext cx="146304" cy="146304"/>
          </a:xfrm>
          <a:prstGeom prst="triangl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802368" y="2971800"/>
            <a:ext cx="0" cy="301752"/>
          </a:xfrm>
          <a:prstGeom prst="line">
            <a:avLst/>
          </a:prstGeom>
          <a:ln w="27940">
            <a:solidFill>
              <a:srgbClr val="EB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729216" y="3200400"/>
            <a:ext cx="146304" cy="146304"/>
          </a:xfrm>
          <a:prstGeom prst="triangl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458200" y="3913632"/>
            <a:ext cx="301752" cy="0"/>
          </a:xfrm>
          <a:prstGeom prst="line">
            <a:avLst/>
          </a:prstGeom>
          <a:ln w="27940">
            <a:solidFill>
              <a:srgbClr val="EB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8686800" y="3840480"/>
            <a:ext cx="146304" cy="146304"/>
          </a:xfrm>
          <a:prstGeom prst="triangl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80060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1CDDC"/>
                </a:solidFill>
                <a:latin typeface="Aptos"/>
              </a:rPr>
              <a:t>GridWise changes the flow to:
DETECT → EXPLAIN → PRIORITIZE → 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2. Our Solution — GridWise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One dashboard connecting equipment health, outage risk, alerts and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14600" cy="2148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039112"/>
            <a:ext cx="502920" cy="502920"/>
          </a:xfrm>
          <a:prstGeom prst="ellipse">
            <a:avLst/>
          </a:prstGeom>
          <a:solidFill>
            <a:srgbClr val="41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848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97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09067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1A9B8"/>
                </a:solidFill>
                <a:latin typeface="Aptos"/>
              </a:rPr>
              <a:t>Equipment + sensor
+ maintenance + failures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27832" y="2926080"/>
            <a:ext cx="338328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493008" y="2852928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1874519"/>
            <a:ext cx="2514600" cy="2148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85032" y="2039112"/>
            <a:ext cx="502920" cy="502920"/>
          </a:xfrm>
          <a:prstGeom prst="ellipse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697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RISK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09067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1A9B8"/>
                </a:solidFill>
                <a:latin typeface="Aptos"/>
              </a:rPr>
              <a:t>Weighted, explainable
0–100 risk 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2926080"/>
            <a:ext cx="338328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6327648" y="2852928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1874519"/>
            <a:ext cx="2514600" cy="2148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9672" y="2039112"/>
            <a:ext cx="502920" cy="502920"/>
          </a:xfrm>
          <a:prstGeom prst="ellips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0848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697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OUTAGE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9067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1A9B8"/>
                </a:solidFill>
                <a:latin typeface="Aptos"/>
              </a:rPr>
              <a:t>Zone probability +
customer impact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97112" y="2926080"/>
            <a:ext cx="338328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9162288" y="2852928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20" y="1874519"/>
            <a:ext cx="2514600" cy="2148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54312" y="2039112"/>
            <a:ext cx="502920" cy="502920"/>
          </a:xfrm>
          <a:prstGeom prst="ellipse">
            <a:avLst/>
          </a:prstGeom>
          <a:solidFill>
            <a:srgbClr val="4BC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2" y="20848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26974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3F8"/>
                </a:solidFill>
                <a:latin typeface="Aptos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309067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1A9B8"/>
                </a:solidFill>
                <a:latin typeface="Aptos"/>
              </a:rPr>
              <a:t>Alerts + recommendations
+ what-if simulation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617720"/>
            <a:ext cx="315468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727448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EXPLAINABLE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95604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1CDDC"/>
                </a:solidFill>
                <a:latin typeface="Aptos Mono"/>
              </a:rPr>
              <a:t>Why is this unit risky?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4617720"/>
            <a:ext cx="315468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727448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PRIORITIZED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95604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BE46"/>
                </a:solidFill>
                <a:latin typeface="Aptos Mono"/>
              </a:rPr>
              <a:t>Which zone needs attention?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617720"/>
            <a:ext cx="315468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727448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ACTIONABLE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95604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BC887"/>
                </a:solidFill>
                <a:latin typeface="Aptos Mono"/>
              </a:rPr>
              <a:t>What should the team 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3. Main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The project is organized as a complete operator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63039"/>
            <a:ext cx="384048" cy="310896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Fleet health, risk counts, trend, zones, recent alerts and top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2588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39"/>
            <a:ext cx="384048" cy="310896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90472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447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Equipment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82880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Search, filter, sort and rank equipment by risk and operating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32588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39"/>
            <a:ext cx="384048" cy="310896"/>
          </a:xfrm>
          <a:prstGeom prst="roundRect">
            <a:avLst/>
          </a:prstGeom>
          <a:solidFill>
            <a:srgbClr val="41CDDC"/>
          </a:solidFill>
          <a:ln w="12700">
            <a:solidFill>
              <a:srgbClr val="41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490472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4447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Equipment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82880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Current readings, maintenance/failure history and risk explanation.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8036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017520"/>
            <a:ext cx="384048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044951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99923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Grid Zones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8328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Zone-level risk, equipment breakdown, outage probability and customer impact.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288036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80" y="3017520"/>
            <a:ext cx="384048" cy="310896"/>
          </a:xfrm>
          <a:prstGeom prst="roundRect">
            <a:avLst/>
          </a:prstGeom>
          <a:solidFill>
            <a:srgbClr val="F0BE4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044951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99923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Outage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38328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Predictions, affected customers, contributors and restoration complexity.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288036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18120" y="3017520"/>
            <a:ext cx="384048" cy="310896"/>
          </a:xfrm>
          <a:prstGeom prst="roundRect">
            <a:avLst/>
          </a:prstGeom>
          <a:solidFill>
            <a:srgbClr val="4BC887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044951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99923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38328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Urgent, scheduled and monitoring actions with rationale.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43484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4572000"/>
            <a:ext cx="384048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99432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553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937759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Threshold-based alerts with acknowledgement workflow.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43484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97680" y="4572000"/>
            <a:ext cx="384048" cy="310896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4599432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4553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What-If Simulator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937759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Change load, temperature, vibration, age, maintenance, failures and weather.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4434840"/>
            <a:ext cx="320040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818120" y="4572000"/>
            <a:ext cx="384048" cy="310896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4599432"/>
            <a:ext cx="3840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553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F3F8"/>
                </a:solidFill>
                <a:latin typeface="Aptos"/>
              </a:rPr>
              <a:t>Data + Settings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4937759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1A9B8"/>
                </a:solidFill>
                <a:latin typeface="Aptos"/>
              </a:rPr>
              <a:t>Dataset status, re-scoring, configuration and prototype data-source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4. User Journey / UI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How an operator moves from fleet overview to a concrete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41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5681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606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F3F8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01752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A1A9B8"/>
                </a:solidFill>
                <a:latin typeface="Aptos"/>
              </a:rPr>
              <a:t>See grid health and high-risk units.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44168" y="2112264"/>
            <a:ext cx="1426464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2697479" y="2039112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71800" y="1828800"/>
            <a:ext cx="566928" cy="566928"/>
          </a:xfrm>
          <a:prstGeom prst="ellipse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95681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606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F3F8"/>
                </a:solidFill>
                <a:latin typeface="Aptos"/>
              </a:rPr>
              <a:t>Equipment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301752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A1A9B8"/>
                </a:solidFill>
                <a:latin typeface="Aptos"/>
              </a:rPr>
              <a:t>Filter to critical/high assets.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0168" y="2112264"/>
            <a:ext cx="1426463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983479" y="2039112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7800" y="1828800"/>
            <a:ext cx="566928" cy="566928"/>
          </a:xfrm>
          <a:prstGeom prst="ellips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5681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606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F3F8"/>
                </a:solidFill>
                <a:latin typeface="Aptos"/>
              </a:rPr>
              <a:t>Detail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01752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A1A9B8"/>
                </a:solidFill>
                <a:latin typeface="Aptos"/>
              </a:rPr>
              <a:t>Inspect readings and risk drivers.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6168" y="2112264"/>
            <a:ext cx="1426463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69479" y="2039112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1828800"/>
            <a:ext cx="566928" cy="566928"/>
          </a:xfrm>
          <a:prstGeom prst="ellips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95681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2606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F3F8"/>
                </a:solidFill>
                <a:latin typeface="Aptos"/>
              </a:rPr>
              <a:t>Outage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01752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A1A9B8"/>
                </a:solidFill>
                <a:latin typeface="Aptos"/>
              </a:rPr>
              <a:t>Understand zone/customer impact.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02168" y="2112264"/>
            <a:ext cx="1426464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555480" y="2039112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29800" y="1828800"/>
            <a:ext cx="566928" cy="566928"/>
          </a:xfrm>
          <a:prstGeom prst="ellipse">
            <a:avLst/>
          </a:prstGeom>
          <a:solidFill>
            <a:srgbClr val="4BC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95681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2606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F3F8"/>
                </a:solidFill>
                <a:latin typeface="Aptos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301752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A1A9B8"/>
                </a:solidFill>
                <a:latin typeface="Aptos"/>
              </a:rPr>
              <a:t>Follow recommendation or simulate.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977639"/>
            <a:ext cx="10241280" cy="16916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3000" y="4315968"/>
            <a:ext cx="21031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425696"/>
            <a:ext cx="18287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GRID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654296"/>
            <a:ext cx="1828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BC887"/>
                </a:solidFill>
                <a:latin typeface="Aptos Mono"/>
              </a:rPr>
              <a:t>82.4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4315968"/>
            <a:ext cx="21031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4425696"/>
            <a:ext cx="18287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4654296"/>
            <a:ext cx="1828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B555F"/>
                </a:solidFill>
                <a:latin typeface="Aptos Mono"/>
              </a:rP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4315968"/>
            <a:ext cx="21031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425696"/>
            <a:ext cx="18287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54296"/>
            <a:ext cx="1828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BE46"/>
                </a:solidFill>
                <a:latin typeface="Aptos Mono"/>
              </a:rPr>
              <a:t>14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4315968"/>
            <a:ext cx="21031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4425696"/>
            <a:ext cx="18287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CUSTOMERS AT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654296"/>
            <a:ext cx="1828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152F0"/>
                </a:solidFill>
                <a:latin typeface="Aptos Mono"/>
              </a:rPr>
              <a:t>12,480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833872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1A9B8"/>
                </a:solidFill>
                <a:latin typeface="Aptos"/>
              </a:rPr>
              <a:t>The interface is intentionally operator-focused: compact cards, clear risk badges, filters, tables and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Frontend, API layer, risk engines and data store work as separate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10296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87F5"/>
                </a:solidFill>
                <a:latin typeface="Aptos"/>
              </a:rPr>
              <a:t>FRONTEND — React + TypeScript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10296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1A9B8"/>
                </a:solidFill>
                <a:latin typeface="Aptos"/>
              </a:rPr>
              <a:t>Pages • reusable components • charts • routing • React Query • Axios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69848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60904"/>
            <a:ext cx="10296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152F0"/>
                </a:solidFill>
                <a:latin typeface="Aptos"/>
              </a:rPr>
              <a:t>BACKEND — FastAPI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90088"/>
            <a:ext cx="10296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1A9B8"/>
                </a:solidFill>
                <a:latin typeface="Aptos"/>
              </a:rPr>
              <a:t>REST endpoints • validation • services • routers • CORS • error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0749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49624"/>
            <a:ext cx="46725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555F"/>
                </a:solidFill>
                <a:latin typeface="Aptos"/>
              </a:rP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78808"/>
            <a:ext cx="46725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1A9B8"/>
                </a:solidFill>
                <a:latin typeface="Aptos"/>
              </a:rPr>
              <a:t>Risk scorer • outage analyzer • recommendation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03320"/>
            <a:ext cx="50749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3849624"/>
            <a:ext cx="46725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C887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4178808"/>
            <a:ext cx="46725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1A9B8"/>
                </a:solidFill>
                <a:latin typeface="Aptos"/>
              </a:rPr>
              <a:t>JSON datasets • in-memory store • loader + validator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267712"/>
            <a:ext cx="0" cy="219456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6007608" y="2414016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3246120" y="3456432"/>
            <a:ext cx="2834640" cy="219455"/>
          </a:xfrm>
          <a:prstGeom prst="line">
            <a:avLst/>
          </a:prstGeom>
          <a:ln w="27940">
            <a:solidFill>
              <a:srgbClr val="EB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3172968" y="3602735"/>
            <a:ext cx="146304" cy="146304"/>
          </a:xfrm>
          <a:prstGeom prst="triangl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080760" y="3456432"/>
            <a:ext cx="2743200" cy="219455"/>
          </a:xfrm>
          <a:prstGeom prst="line">
            <a:avLst/>
          </a:prstGeom>
          <a:ln w="27940">
            <a:solidFill>
              <a:srgbClr val="4BC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8750808" y="3602735"/>
            <a:ext cx="146304" cy="146304"/>
          </a:xfrm>
          <a:prstGeom prst="triangle">
            <a:avLst/>
          </a:prstGeom>
          <a:solidFill>
            <a:srgbClr val="4BC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5074920"/>
            <a:ext cx="3657600" cy="310896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102352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REST API PREFIX: /api/v1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235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1A9B8"/>
                </a:solidFill>
                <a:latin typeface="Aptos"/>
              </a:rPr>
              <a:t>Key route groups: dashboard • equipment • zones • outage • recommendations • alerts • data • 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6.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Why each technology is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71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187F5"/>
                </a:solidFill>
                <a:latin typeface="Aptos"/>
              </a:rPr>
              <a:t>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Component-based UI for dashboards and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371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1CDDC"/>
                </a:solidFill>
                <a:latin typeface="Aptos"/>
              </a:rP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67335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Typed frontend code and safer API/data contracts.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371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BE46"/>
                </a:solidFill>
                <a:latin typeface="Aptos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67335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Fast development server and production build.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04872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542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9152F0"/>
                </a:solidFill>
                <a:latin typeface="Aptos"/>
              </a:rPr>
              <a:t>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28437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Utility-based responsive styling and theme tokens.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404872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2542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BC887"/>
                </a:solidFill>
                <a:latin typeface="Aptos"/>
              </a:rPr>
              <a:t>Recharts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8437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Risk trends, radar charts and data visualization.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404872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542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187F5"/>
                </a:solidFill>
                <a:latin typeface="Aptos"/>
              </a:rPr>
              <a:t>React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Client-side navigation across 10 application areas.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75304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371246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1CDDC"/>
                </a:solidFill>
                <a:latin typeface="Aptos"/>
              </a:rPr>
              <a:t>TanStack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014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Server-state fetching, caching and invalidation.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575304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1246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0BE46"/>
                </a:solidFill>
                <a:latin typeface="Aptos"/>
              </a:rPr>
              <a:t>Axios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14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HTTP client for frontend ↔ FastAPI communication.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575304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71246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9152F0"/>
                </a:solidFill>
                <a:latin typeface="Aptos"/>
              </a:rPr>
              <a:t>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014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Python REST backend with typed request/response models.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745736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8828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BC887"/>
                </a:solidFill>
                <a:latin typeface="Aptos"/>
              </a:rPr>
              <a:t>Pydantic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" y="518464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Validation and structured schemas for API data.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4745736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2" y="48828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B555F"/>
                </a:solidFill>
                <a:latin typeface="Aptos"/>
              </a:rPr>
              <a:t>Python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518464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Risk calculations, outage analysis and recommendations.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745736"/>
            <a:ext cx="3429000" cy="96012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48828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1A9B8"/>
                </a:solidFill>
                <a:latin typeface="Aptos"/>
              </a:rPr>
              <a:t>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518464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A1A9B8"/>
                </a:solidFill>
                <a:latin typeface="Aptos"/>
              </a:rPr>
              <a:t>Prototype dataset for zones, equipment and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7. Data Flow — From JSON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How a reading becomes a score, alert and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828800" cy="1005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84831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187F5"/>
                </a:solidFill>
                <a:latin typeface="Aptos"/>
              </a:rPr>
              <a:t>JSON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0008"/>
            <a:ext cx="1609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A1A9B8"/>
                </a:solidFill>
                <a:latin typeface="Aptos"/>
              </a:rPr>
              <a:t>zones
 equipment
 readings
 maintenance
 failures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965960"/>
            <a:ext cx="1828800" cy="1005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41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084831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1CDDC"/>
                </a:solidFill>
                <a:latin typeface="Aptos"/>
              </a:rPr>
              <a:t>LOAD +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350008"/>
            <a:ext cx="1609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A1A9B8"/>
                </a:solidFill>
                <a:latin typeface="Aptos"/>
              </a:rPr>
              <a:t>loader.py
validator.py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65960"/>
            <a:ext cx="1828800" cy="1005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084831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9152F0"/>
                </a:solidFill>
                <a:latin typeface="Aptos"/>
              </a:rPr>
              <a:t>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350008"/>
            <a:ext cx="1609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A1A9B8"/>
                </a:solidFill>
                <a:latin typeface="Aptos"/>
              </a:rPr>
              <a:t>weighted factors
0–100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25880"/>
            <a:ext cx="1828800" cy="1005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1444752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EB555F"/>
                </a:solidFill>
                <a:latin typeface="Aptos"/>
              </a:rPr>
              <a:t>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1709928"/>
            <a:ext cx="1609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A1A9B8"/>
                </a:solidFill>
                <a:latin typeface="Aptos"/>
              </a:rPr>
              <a:t>critical threshold
breach →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743200"/>
            <a:ext cx="1828800" cy="1005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2862072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BC887"/>
                </a:solidFill>
                <a:latin typeface="Aptos"/>
              </a:rPr>
              <a:t>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3127248"/>
            <a:ext cx="1609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A1A9B8"/>
                </a:solidFill>
                <a:latin typeface="Aptos"/>
              </a:rPr>
              <a:t>urgent / scheduled /
monitor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965960"/>
            <a:ext cx="1828800" cy="10058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7" y="2084831"/>
            <a:ext cx="1609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0BE46"/>
                </a:solidFill>
                <a:latin typeface="Aptos"/>
              </a:rPr>
              <a:t>UI /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7" y="2350008"/>
            <a:ext cx="1609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A1A9B8"/>
                </a:solidFill>
                <a:latin typeface="Aptos"/>
              </a:rPr>
              <a:t>dashboard
charts + tables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2468880"/>
            <a:ext cx="320040" cy="0"/>
          </a:xfrm>
          <a:prstGeom prst="line">
            <a:avLst/>
          </a:prstGeom>
          <a:ln w="27940">
            <a:solidFill>
              <a:srgbClr val="418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2715768" y="2395728"/>
            <a:ext cx="146304" cy="146304"/>
          </a:xfrm>
          <a:prstGeom prst="triangle">
            <a:avLst/>
          </a:prstGeom>
          <a:solidFill>
            <a:srgbClr val="41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709160" y="2468880"/>
            <a:ext cx="320040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956048" y="2395728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6949440" y="1828800"/>
            <a:ext cx="320040" cy="640080"/>
          </a:xfrm>
          <a:prstGeom prst="line">
            <a:avLst/>
          </a:prstGeom>
          <a:ln w="27940">
            <a:solidFill>
              <a:srgbClr val="EB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196328" y="1755648"/>
            <a:ext cx="146304" cy="146304"/>
          </a:xfrm>
          <a:prstGeom prst="triangl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949440" y="2468880"/>
            <a:ext cx="320040" cy="777240"/>
          </a:xfrm>
          <a:prstGeom prst="line">
            <a:avLst/>
          </a:prstGeom>
          <a:ln w="27940">
            <a:solidFill>
              <a:srgbClr val="4BC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196328" y="3172968"/>
            <a:ext cx="146304" cy="146304"/>
          </a:xfrm>
          <a:prstGeom prst="triangle">
            <a:avLst/>
          </a:prstGeom>
          <a:solidFill>
            <a:srgbClr val="4BC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189720" y="1828800"/>
            <a:ext cx="320040" cy="640080"/>
          </a:xfrm>
          <a:prstGeom prst="line">
            <a:avLst/>
          </a:prstGeom>
          <a:ln w="27940">
            <a:solidFill>
              <a:srgbClr val="F0B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436608" y="2395728"/>
            <a:ext cx="146304" cy="146304"/>
          </a:xfrm>
          <a:prstGeom prst="triangle">
            <a:avLst/>
          </a:prstGeom>
          <a:solidFill>
            <a:srgbClr val="F0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9189720" y="2468880"/>
            <a:ext cx="320040" cy="777240"/>
          </a:xfrm>
          <a:prstGeom prst="line">
            <a:avLst/>
          </a:prstGeom>
          <a:ln w="27940">
            <a:solidFill>
              <a:srgbClr val="F0B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9436608" y="2395728"/>
            <a:ext cx="146304" cy="146304"/>
          </a:xfrm>
          <a:prstGeom prst="triangle">
            <a:avLst/>
          </a:prstGeom>
          <a:solidFill>
            <a:srgbClr val="F0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6177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F3F8"/>
                </a:solidFill>
                <a:latin typeface="Aptos"/>
              </a:rPr>
              <a:t>Startup flow: FastAPI lifespan → load_data() → score_all_equipment() → store is ready for the UI.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3492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1A9B8"/>
                </a:solidFill>
                <a:latin typeface="Aptos"/>
              </a:rPr>
              <a:t>The current prototype uses simulated JSON data; the Data page explicitly communicates that real CSV/API ingestion is a future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8. Core Logic — Equipment Risk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A transparent weighted multi-factor model; every score can be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029200" cy="18288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152F0"/>
                </a:solidFill>
                <a:latin typeface="Aptos"/>
              </a:rPr>
              <a:t>RISK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0F3F8"/>
                </a:solidFill>
                <a:latin typeface="Aptos Mono"/>
              </a:rPr>
              <a:t>Σ (normalized factor × weight)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1A9B8"/>
                </a:solidFill>
                <a:latin typeface="Aptos"/>
              </a:rPr>
              <a:t>Each input is normalized to a 0–1 range before weighting.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435608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1435608"/>
            <a:ext cx="3246120" cy="164592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13898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4187F5"/>
                </a:solidFill>
                <a:latin typeface="Aptos Mono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938528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938528"/>
            <a:ext cx="2596896" cy="164592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189280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B555F"/>
                </a:solidFill>
                <a:latin typeface="Aptos Mono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2316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441448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2441448"/>
            <a:ext cx="2337206" cy="164592"/>
          </a:xfrm>
          <a:prstGeom prst="roundRect">
            <a:avLst/>
          </a:prstGeom>
          <a:solidFill>
            <a:srgbClr val="F0BE4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239572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0BE46"/>
                </a:solidFill>
                <a:latin typeface="Aptos Mono"/>
              </a:rPr>
              <a:t>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92608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Maintenance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944368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79" y="2944368"/>
            <a:ext cx="1947672" cy="164592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28986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152F0"/>
                </a:solidFill>
                <a:latin typeface="Aptos Mono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42900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Failure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447288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79" y="3447288"/>
            <a:ext cx="1558137" cy="164592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340156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B555F"/>
                </a:solidFill>
                <a:latin typeface="Aptos Mono"/>
              </a:rPr>
              <a:t>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93192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Voltage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3950207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79" y="3950207"/>
            <a:ext cx="779068" cy="164592"/>
          </a:xfrm>
          <a:prstGeom prst="roundRect">
            <a:avLst/>
          </a:prstGeom>
          <a:solidFill>
            <a:srgbClr val="41CDDC"/>
          </a:solidFill>
          <a:ln w="12700">
            <a:solidFill>
              <a:srgbClr val="41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3904487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41CDDC"/>
                </a:solidFill>
                <a:latin typeface="Aptos Mono"/>
              </a:rPr>
              <a:t>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434840"/>
            <a:ext cx="1417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Vibration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4453127"/>
            <a:ext cx="3246120" cy="164592"/>
          </a:xfrm>
          <a:prstGeom prst="roundRect">
            <a:avLst/>
          </a:prstGeom>
          <a:solidFill>
            <a:srgbClr val="232732"/>
          </a:solidFill>
          <a:ln w="12700">
            <a:solidFill>
              <a:srgbClr val="232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79" y="4453127"/>
            <a:ext cx="519379" cy="164592"/>
          </a:xfrm>
          <a:prstGeom prst="roundRect">
            <a:avLst/>
          </a:prstGeom>
          <a:solidFill>
            <a:srgbClr val="4BC887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0" y="4407407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4BC887"/>
                </a:solidFill>
                <a:latin typeface="Aptos Mono"/>
              </a:rPr>
              <a:t>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3F8"/>
                </a:solidFill>
                <a:latin typeface="Aptos"/>
              </a:rPr>
              <a:t>Risk levels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886200"/>
            <a:ext cx="2423160" cy="822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0416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BC887"/>
                </a:solidFill>
                <a:latin typeface="Aptos"/>
              </a:rPr>
              <a:t>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343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1A9B8"/>
                </a:solidFill>
                <a:latin typeface="Aptos Mono"/>
              </a:rPr>
              <a:t>&lt; 40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3886200"/>
            <a:ext cx="2423160" cy="822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79" y="40416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0BE46"/>
                </a:solidFill>
                <a:latin typeface="Aptos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79" y="4343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1A9B8"/>
                </a:solidFill>
                <a:latin typeface="Aptos Mono"/>
              </a:rPr>
              <a:t>40–59.9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886200"/>
            <a:ext cx="2423160" cy="822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0416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B555F"/>
                </a:solidFill>
                <a:latin typeface="Aptos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343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1A9B8"/>
                </a:solidFill>
                <a:latin typeface="Aptos Mono"/>
              </a:rPr>
              <a:t>60–79.9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3886200"/>
            <a:ext cx="2423160" cy="822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8280" y="40416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152F0"/>
                </a:solidFill>
                <a:latin typeface="Aptos"/>
              </a:rPr>
              <a:t>CRITICAL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4343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1A9B8"/>
                </a:solidFill>
                <a:latin typeface="Aptos Mono"/>
              </a:rPr>
              <a:t>≥ 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1663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1A9B8"/>
                </a:solidFill>
                <a:latin typeface="Aptos"/>
              </a:rPr>
              <a:t>Then the score is transformed into an estimated outage probability using a logistic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9. Outage Risk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Equipment risk is combined at zone level to estimate outage probability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49240" cy="16002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B555F"/>
                </a:solidFill>
                <a:latin typeface="Aptos"/>
              </a:rPr>
              <a:t>ZONE OUTAGE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0F3F8"/>
                </a:solidFill>
                <a:latin typeface="Aptos Mono"/>
              </a:rPr>
              <a:t>1 − Π (1 − pᵢ)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1A9B8"/>
                </a:solidFill>
                <a:latin typeface="Aptos"/>
              </a:rPr>
              <a:t>pᵢ = outage contribution probability of equipment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324612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511296"/>
            <a:ext cx="384048" cy="384048"/>
          </a:xfrm>
          <a:prstGeom prst="ellipse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02736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4747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F3F8"/>
                </a:solidFill>
                <a:latin typeface="Aptos"/>
              </a:rPr>
              <a:t>Equipment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A1A9B8"/>
                </a:solidFill>
                <a:latin typeface="Aptos"/>
              </a:rPr>
              <a:t>Each unit has risk + outage probability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959352"/>
            <a:ext cx="347472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389120" y="3886200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3337560"/>
            <a:ext cx="324612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3440" y="3511296"/>
            <a:ext cx="384048" cy="384048"/>
          </a:xfrm>
          <a:prstGeom prst="ellipse">
            <a:avLst/>
          </a:prstGeom>
          <a:solidFill>
            <a:srgbClr val="EB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4747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F3F8"/>
                </a:solidFill>
                <a:latin typeface="Aptos"/>
              </a:rPr>
              <a:t>Zone 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88620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A1A9B8"/>
                </a:solidFill>
                <a:latin typeface="Aptos"/>
              </a:rPr>
              <a:t>Combine independent failure probabilities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18120" y="3959352"/>
            <a:ext cx="347472" cy="0"/>
          </a:xfrm>
          <a:prstGeom prst="line">
            <a:avLst/>
          </a:prstGeom>
          <a:ln w="27940">
            <a:solidFill>
              <a:srgbClr val="41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8092440" y="3886200"/>
            <a:ext cx="146304" cy="146304"/>
          </a:xfrm>
          <a:prstGeom prst="triangle">
            <a:avLst/>
          </a:prstGeom>
          <a:solidFill>
            <a:srgbClr val="41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3337560"/>
            <a:ext cx="3246120" cy="12344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3511296"/>
            <a:ext cx="384048" cy="384048"/>
          </a:xfrm>
          <a:prstGeom prst="ellipse">
            <a:avLst/>
          </a:prstGeom>
          <a:solidFill>
            <a:srgbClr val="F0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602736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34747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F3F8"/>
                </a:solidFill>
                <a:latin typeface="Aptos"/>
              </a:rPr>
              <a:t>Impact 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88620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A1A9B8"/>
                </a:solidFill>
                <a:latin typeface="Aptos"/>
              </a:rPr>
              <a:t>Customers + downtime + economic tier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74920"/>
            <a:ext cx="25603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184648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EXPECTED 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413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B555F"/>
                </a:solidFill>
                <a:latin typeface="Aptos Mono"/>
              </a:rPr>
              <a:t>Σ pᵢ × customersᵢ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5074920"/>
            <a:ext cx="25603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5184648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WORST 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413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BE46"/>
                </a:solidFill>
                <a:latin typeface="Aptos Mono"/>
              </a:rPr>
              <a:t>Total zone customers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5074920"/>
            <a:ext cx="256032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5184648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DOWNTIME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413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152F0"/>
                </a:solidFill>
                <a:latin typeface="Aptos Mono"/>
              </a:rPr>
              <a:t>Weighted by 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5074920"/>
            <a:ext cx="1691640" cy="91440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518464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1A9B8"/>
                </a:solidFill>
                <a:latin typeface="Aptos"/>
              </a:rPr>
              <a:t>RESTORATION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413248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BC887"/>
                </a:solidFill>
                <a:latin typeface="Aptos Mono"/>
              </a:rPr>
              <a:t>Complexity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10. Alerts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The system converts risk thresholds into operational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03520" cy="452628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1417320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ALERT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Automatic alert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F0F3F8"/>
                </a:solidFill>
                <a:latin typeface="Aptos"/>
              </a:defRPr>
            </a:pPr>
            <a:r>
              <a:t>• After scoring, the service checks critical risk thresholds.</a:t>
            </a:r>
          </a:p>
          <a:p>
            <a:pPr>
              <a:spcAft>
                <a:spcPts val="900"/>
              </a:spcAft>
              <a:defRPr sz="1250">
                <a:solidFill>
                  <a:srgbClr val="F0F3F8"/>
                </a:solidFill>
                <a:latin typeface="Aptos"/>
              </a:defRPr>
            </a:pPr>
            <a:r>
              <a:t>• A critical unit can generate a RISK_ELEVATED alert.</a:t>
            </a:r>
          </a:p>
          <a:p>
            <a:pPr>
              <a:spcAft>
                <a:spcPts val="900"/>
              </a:spcAft>
              <a:defRPr sz="1250">
                <a:solidFill>
                  <a:srgbClr val="F0F3F8"/>
                </a:solidFill>
                <a:latin typeface="Aptos"/>
              </a:defRPr>
            </a:pPr>
            <a:r>
              <a:t>• Existing unacknowledged alerts are checked to avoid duplicate alert types.</a:t>
            </a:r>
          </a:p>
          <a:p>
            <a:pPr>
              <a:spcAft>
                <a:spcPts val="900"/>
              </a:spcAft>
              <a:defRPr sz="1250">
                <a:solidFill>
                  <a:srgbClr val="F0F3F8"/>
                </a:solidFill>
                <a:latin typeface="Aptos"/>
              </a:defRPr>
            </a:pPr>
            <a:r>
              <a:t>• The Alerts page supports filtering and acknowledgement.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452628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508760"/>
            <a:ext cx="1737360" cy="310896"/>
          </a:xfrm>
          <a:prstGeom prst="roundRect">
            <a:avLst/>
          </a:prstGeom>
          <a:solidFill>
            <a:srgbClr val="4BC887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RULE-BASED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993392"/>
            <a:ext cx="868680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20824"/>
            <a:ext cx="868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URGENT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01168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0F3F8"/>
                </a:solidFill>
                <a:latin typeface="Aptos"/>
              </a:rPr>
              <a:t>Risk ≥ 80 + load &gt;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01168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1A9B8"/>
                </a:solidFill>
                <a:latin typeface="Aptos"/>
              </a:rPr>
              <a:t>Emergency inspection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560320"/>
            <a:ext cx="868680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587752"/>
            <a:ext cx="868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URGENT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5786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0F3F8"/>
                </a:solidFill>
                <a:latin typeface="Aptos"/>
              </a:rPr>
              <a:t>Maintenance &gt; 365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57860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1A9B8"/>
                </a:solidFill>
                <a:latin typeface="Aptos"/>
              </a:rPr>
              <a:t>Perform overdue maintenance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3127248"/>
            <a:ext cx="868680" cy="310896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154680"/>
            <a:ext cx="868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URGENT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14553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0F3F8"/>
                </a:solidFill>
                <a:latin typeface="Aptos"/>
              </a:rPr>
              <a:t>Temperature &gt; 90°C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14553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1A9B8"/>
                </a:solidFill>
                <a:latin typeface="Aptos"/>
              </a:rPr>
              <a:t>Investigate thermal condition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3694176"/>
            <a:ext cx="868680" cy="310896"/>
          </a:xfrm>
          <a:prstGeom prst="roundRect">
            <a:avLst/>
          </a:prstGeom>
          <a:solidFill>
            <a:srgbClr val="F0BE4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721608"/>
            <a:ext cx="868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SCHEDULED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712463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0F3F8"/>
                </a:solidFill>
                <a:latin typeface="Aptos"/>
              </a:rPr>
              <a:t>Risk ≥ 60 + maintenance &gt; 180d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712463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1A9B8"/>
                </a:solidFill>
                <a:latin typeface="Aptos"/>
              </a:rPr>
              <a:t>Maintenance within 7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4261104"/>
            <a:ext cx="868680" cy="310896"/>
          </a:xfrm>
          <a:prstGeom prst="roundRect">
            <a:avLst/>
          </a:prstGeom>
          <a:solidFill>
            <a:srgbClr val="F0BE4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288536"/>
            <a:ext cx="868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SCHEDULED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42793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0F3F8"/>
                </a:solidFill>
                <a:latin typeface="Aptos"/>
              </a:rPr>
              <a:t>Age &gt; 25 years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27939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1A9B8"/>
                </a:solidFill>
                <a:latin typeface="Aptos"/>
              </a:rPr>
              <a:t>End-of-life assessment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73952" y="4828032"/>
            <a:ext cx="868680" cy="310896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855464"/>
            <a:ext cx="868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846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0F3F8"/>
                </a:solidFill>
                <a:latin typeface="Aptos"/>
              </a:rPr>
              <a:t>Risk ≥ 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48463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1A9B8"/>
                </a:solidFill>
                <a:latin typeface="Aptos"/>
              </a:rPr>
              <a:t>Increase monitoring frequency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23036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1A9B8"/>
                </a:solidFill>
                <a:latin typeface="Aptos"/>
              </a:rPr>
              <a:t>Important: recommendations are deterministic prototype rules, not a trained ML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11. What-If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Test scenarios without changing the live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709160" cy="452628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Interactive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Temperature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057400"/>
            <a:ext cx="23317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057400"/>
            <a:ext cx="1234440" cy="118872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231136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1A9B8"/>
                </a:solidFill>
                <a:latin typeface="Aptos Mono"/>
              </a:rPr>
              <a:t>45 → 95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9689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642616"/>
            <a:ext cx="23317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3160" y="2642616"/>
            <a:ext cx="1234440" cy="118872"/>
          </a:xfrm>
          <a:prstGeom prst="roundRect">
            <a:avLst/>
          </a:prstGeom>
          <a:solidFill>
            <a:srgbClr val="F0BE4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281635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1A9B8"/>
                </a:solidFill>
                <a:latin typeface="Aptos Mono"/>
              </a:rPr>
              <a:t>40 → 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8211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Vibration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227832"/>
            <a:ext cx="23317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23160" y="3227832"/>
            <a:ext cx="1234440" cy="118872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7168" y="340156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1A9B8"/>
                </a:solidFill>
                <a:latin typeface="Aptos Mono"/>
              </a:rPr>
              <a:t>0 → 10 mm/s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6732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3813048"/>
            <a:ext cx="23317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23160" y="3813048"/>
            <a:ext cx="1234440" cy="118872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87168" y="398678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1A9B8"/>
                </a:solidFill>
                <a:latin typeface="Aptos Mono"/>
              </a:rPr>
              <a:t>0 → 40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525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Maintenance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4398264"/>
            <a:ext cx="23317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23160" y="4398264"/>
            <a:ext cx="1234440" cy="118872"/>
          </a:xfrm>
          <a:prstGeom prst="roundRect">
            <a:avLst/>
          </a:prstGeom>
          <a:solidFill>
            <a:srgbClr val="41CDDC"/>
          </a:solidFill>
          <a:ln w="12700">
            <a:solidFill>
              <a:srgbClr val="41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45720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1A9B8"/>
                </a:solidFill>
                <a:latin typeface="Aptos Mono"/>
              </a:rPr>
              <a:t>0 → 365+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59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0F3F8"/>
                </a:solidFill>
                <a:latin typeface="Aptos"/>
              </a:rPr>
              <a:t>Weather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983479"/>
            <a:ext cx="23317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23160" y="4983479"/>
            <a:ext cx="1234440" cy="118872"/>
          </a:xfrm>
          <a:prstGeom prst="roundRect">
            <a:avLst/>
          </a:prstGeom>
          <a:solidFill>
            <a:srgbClr val="4BC887"/>
          </a:solidFill>
          <a:ln w="12700">
            <a:solidFill>
              <a:srgbClr val="4B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7168" y="5157216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1A9B8"/>
                </a:solidFill>
                <a:latin typeface="Aptos Mono"/>
              </a:rPr>
              <a:t>Normal / Wind / Heat / Storm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1234440"/>
            <a:ext cx="5806440" cy="452628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5087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3F8"/>
                </a:solidFill>
                <a:latin typeface="Aptos"/>
              </a:rPr>
              <a:t>Scenario result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2057400"/>
            <a:ext cx="1325880" cy="1325880"/>
          </a:xfrm>
          <a:prstGeom prst="ellipse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39572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9718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HIGH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05740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3F8"/>
                </a:solidFill>
                <a:latin typeface="Aptos"/>
              </a:rPr>
              <a:t>Load stress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2084831"/>
            <a:ext cx="16459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26880" y="2084831"/>
            <a:ext cx="1349654" cy="118872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45952" y="203911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1">
                <a:solidFill>
                  <a:srgbClr val="4187F5"/>
                </a:solidFill>
                <a:latin typeface="Aptos Mono"/>
              </a:rPr>
              <a:t>82%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262432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3F8"/>
                </a:solidFill>
                <a:latin typeface="Aptos"/>
              </a:rPr>
              <a:t>Thermal stress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2651760"/>
            <a:ext cx="16459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0" y="2651760"/>
            <a:ext cx="1250899" cy="118872"/>
          </a:xfrm>
          <a:prstGeom prst="roundRect">
            <a:avLst/>
          </a:prstGeom>
          <a:solidFill>
            <a:srgbClr val="EB555F"/>
          </a:solidFill>
          <a:ln w="12700">
            <a:solidFill>
              <a:srgbClr val="EB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45952" y="260604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1">
                <a:solidFill>
                  <a:srgbClr val="EB555F"/>
                </a:solidFill>
                <a:latin typeface="Aptos Mono"/>
              </a:rPr>
              <a:t>76%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319125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3F8"/>
                </a:solidFill>
                <a:latin typeface="Aptos"/>
              </a:rPr>
              <a:t>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3218688"/>
            <a:ext cx="16459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26880" y="3218688"/>
            <a:ext cx="905256" cy="118872"/>
          </a:xfrm>
          <a:prstGeom prst="roundRect">
            <a:avLst/>
          </a:prstGeom>
          <a:solidFill>
            <a:srgbClr val="F0BE4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45952" y="317296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1">
                <a:solidFill>
                  <a:srgbClr val="F0BE46"/>
                </a:solidFill>
                <a:latin typeface="Aptos Mono"/>
              </a:rPr>
              <a:t>55%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3758183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3F8"/>
                </a:solidFill>
                <a:latin typeface="Aptos"/>
              </a:rPr>
              <a:t>Maintenance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3785615"/>
            <a:ext cx="1645920" cy="118872"/>
          </a:xfrm>
          <a:prstGeom prst="roundRect">
            <a:avLst/>
          </a:prstGeom>
          <a:solidFill>
            <a:srgbClr val="262A36"/>
          </a:solidFill>
          <a:ln w="1270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26880" y="3785615"/>
            <a:ext cx="790041" cy="118872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45952" y="3739896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1">
                <a:solidFill>
                  <a:srgbClr val="9152F0"/>
                </a:solidFill>
                <a:latin typeface="Aptos Mono"/>
              </a:rPr>
              <a:t>48%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4709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BC887"/>
                </a:solidFill>
                <a:latin typeface="Aptos"/>
              </a:rPr>
              <a:t>Stateless API 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501091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1A9B8"/>
                </a:solidFill>
                <a:latin typeface="Aptos"/>
              </a:rPr>
              <a:t>The simulator calculates a scenario response but does not persist scores or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12. Data Management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Validation, re-scoring and clear prototype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29000" cy="33375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554480"/>
            <a:ext cx="914400" cy="310896"/>
          </a:xfrm>
          <a:prstGeom prst="roundRect">
            <a:avLst/>
          </a:prstGeom>
          <a:solidFill>
            <a:srgbClr val="4187F5"/>
          </a:solidFill>
          <a:ln w="127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8191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574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F3F8"/>
                </a:solidFill>
                <a:latin typeface="Aptos"/>
              </a:rPr>
              <a:t>JSON files are loaded at startup.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zones.json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equipment.json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readings.json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maintenance.json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failures.json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alerts.json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29000" cy="33375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1554480"/>
            <a:ext cx="914400" cy="310896"/>
          </a:xfrm>
          <a:prstGeom prst="roundRect">
            <a:avLst/>
          </a:prstGeom>
          <a:solidFill>
            <a:srgbClr val="41CDDC"/>
          </a:solidFill>
          <a:ln w="12700">
            <a:solidFill>
              <a:srgbClr val="41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8191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F3F8"/>
                </a:solidFill>
                <a:latin typeface="Aptos"/>
              </a:rPr>
              <a:t>Invalid records are excluded and logged.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Structured validation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Warnings for bad records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Store populated only with valid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25880"/>
            <a:ext cx="3429000" cy="33375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554480"/>
            <a:ext cx="914400" cy="310896"/>
          </a:xfrm>
          <a:prstGeom prst="roundRect">
            <a:avLst/>
          </a:prstGeom>
          <a:solidFill>
            <a:srgbClr val="9152F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8191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F3F8"/>
                </a:solidFill>
                <a:latin typeface="Aptos"/>
              </a:rPr>
              <a:t>All equipment can be recalculated on demand.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Latest reading used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Risk + recommendations regenerated</a:t>
            </a:r>
          </a:p>
          <a:p>
            <a:pPr>
              <a:spcAft>
                <a:spcPts val="700"/>
              </a:spcAft>
              <a:defRPr sz="1050">
                <a:solidFill>
                  <a:srgbClr val="A1A9B8"/>
                </a:solidFill>
                <a:latin typeface="Aptos"/>
              </a:defRPr>
            </a:pPr>
            <a:r>
              <a:t>• New critical alerts created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10789920" cy="822960"/>
          </a:xfrm>
          <a:prstGeom prst="roundRect">
            <a:avLst/>
          </a:prstGeom>
          <a:solidFill>
            <a:srgbClr val="1F1B16"/>
          </a:solidFill>
          <a:ln w="12700">
            <a:solidFill>
              <a:srgbClr val="F0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846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0BE46"/>
                </a:solidFill>
                <a:latin typeface="Aptos"/>
              </a:rPr>
              <a:t>PROTOTYPE LIMITATION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102352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0F3F8"/>
                </a:solidFill>
                <a:latin typeface="Aptos"/>
              </a:rPr>
              <a:t>Current data is simulated JSON generated by the project. Real CSV/API ingestion is identified as a future phase.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978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1A9B8"/>
                </a:solidFill>
                <a:latin typeface="Aptos"/>
              </a:rPr>
              <a:t>This makes the demo reproducible and safe for a hackathon/prototype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13. Benefits,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What the prototype delivers today — and how it can evolve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4251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BC887"/>
                </a:solidFill>
                <a:latin typeface="Apto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Explainable equipment risk scoring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Zone-level outage estimation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Customer impact estimation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Actionable recommendations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Alerts + acknowledgement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Interactive what-if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325880"/>
            <a:ext cx="3383280" cy="4251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276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0BE46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488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Simulated JSON data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Heuristic/rule-based scoring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Prototype estimates, not operational guarantees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No live SCADA/IoT integration yet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No production authentication/authorization shown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325880"/>
            <a:ext cx="3383280" cy="425196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32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6276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9152F0"/>
                </a:solidFill>
                <a:latin typeface="Aptos"/>
              </a:rPr>
              <a:t>NEXT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488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Live sensor/SCADA/API ingestion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Historical ML failure prediction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Model calibration with real utility data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Geospatial grid maps and topology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Role-based access + audit trail</a:t>
            </a:r>
          </a:p>
          <a:p>
            <a:pPr>
              <a:spcAft>
                <a:spcPts val="1000"/>
              </a:spcAft>
              <a:defRPr sz="1120">
                <a:solidFill>
                  <a:srgbClr val="F0F3F8"/>
                </a:solidFill>
                <a:latin typeface="Aptos"/>
              </a:defRPr>
            </a:pPr>
            <a:r>
              <a:t>• Cloud deployment and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1CDDC"/>
                </a:solidFill>
                <a:latin typeface="Aptos"/>
              </a:rPr>
              <a:t>Core idea: move grid operations from “react after failure” toward “predict, explain and act before failure.”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1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0F3F8"/>
                </a:solidFill>
                <a:latin typeface="Aptos"/>
              </a:rP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A9B8"/>
                </a:solidFill>
                <a:latin typeface="Aptos"/>
              </a:rPr>
              <a:t>GridWise turns complex grid data into a clear operational decision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1A9B8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1A9B8"/>
                </a:solidFill>
                <a:latin typeface="Aptos"/>
              </a:rPr>
              <a:t>GRIDWISE • RISK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44200" cy="4206240"/>
          </a:xfrm>
          <a:prstGeom prst="roundRect">
            <a:avLst/>
          </a:prstGeom>
          <a:solidFill>
            <a:srgbClr val="141720"/>
          </a:solidFill>
          <a:ln w="12700">
            <a:solidFill>
              <a:srgbClr val="915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187F5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1A9B8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28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152F0"/>
                </a:solidFill>
                <a:latin typeface="Aptos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1A9B8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828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B555F"/>
                </a:solidFill>
                <a:latin typeface="Aptos"/>
              </a:rPr>
              <a:t>OUTAGE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1A9B8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288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BC887"/>
                </a:solidFill>
                <a:latin typeface="Aptos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0604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50">
                <a:solidFill>
                  <a:srgbClr val="F0F3F8"/>
                </a:solidFill>
                <a:latin typeface="Aptos"/>
              </a:defRPr>
            </a:pPr>
            <a:r>
              <a:t>• The frontend gives operators a unified, responsive view of the grid.</a:t>
            </a:r>
          </a:p>
          <a:p>
            <a:pPr>
              <a:spcAft>
                <a:spcPts val="1100"/>
              </a:spcAft>
              <a:defRPr sz="1350">
                <a:solidFill>
                  <a:srgbClr val="F0F3F8"/>
                </a:solidFill>
                <a:latin typeface="Aptos"/>
              </a:defRPr>
            </a:pPr>
            <a:r>
              <a:t>• The FastAPI backend separates data, scoring, outage analysis and recommendations.</a:t>
            </a:r>
          </a:p>
          <a:p>
            <a:pPr>
              <a:spcAft>
                <a:spcPts val="1100"/>
              </a:spcAft>
              <a:defRPr sz="1350">
                <a:solidFill>
                  <a:srgbClr val="F0F3F8"/>
                </a:solidFill>
                <a:latin typeface="Aptos"/>
              </a:defRPr>
            </a:pPr>
            <a:r>
              <a:t>• The risk model is weighted and explainable, making the score easier to defend.</a:t>
            </a:r>
          </a:p>
          <a:p>
            <a:pPr>
              <a:spcAft>
                <a:spcPts val="1100"/>
              </a:spcAft>
              <a:defRPr sz="1350">
                <a:solidFill>
                  <a:srgbClr val="F0F3F8"/>
                </a:solidFill>
                <a:latin typeface="Aptos"/>
              </a:defRPr>
            </a:pPr>
            <a:r>
              <a:t>• The prototype clearly separates current capabilities from future live-data/ML expansion.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8920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3F8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5394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1A9B8"/>
                </a:solidFill>
                <a:latin typeface="Aptos"/>
              </a:rPr>
              <a:t>Questions /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